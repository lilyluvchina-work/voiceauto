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-rule"/>
          <p:cNvSpPr/>
          <p:nvPr/>
        </p:nvSpPr>
        <p:spPr>
          <a:xfrm>
            <a:off x="400050" y="361950"/>
            <a:ext cx="11391900" cy="3810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</p:spPr>
      </p:sp>
      <p:sp>
        <p:nvSpPr>
          <p:cNvPr id="3" name="eyebrow"/>
          <p:cNvSpPr txBox="1"/>
          <p:nvPr/>
        </p:nvSpPr>
        <p:spPr>
          <a:xfrm>
            <a:off x="400050" y="66675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400" b="1">
                <a:solidFill>
                  <a:srgbClr val="3D8DFF"/>
                </a:solidFill>
              </a:rPr>
              <a:t>语音自动化测试平台｜向上汇报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00050" y="1695450"/>
            <a:ext cx="8286750" cy="1809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5800" b="1">
                <a:solidFill>
                  <a:srgbClr val="000000"/>
                </a:solidFill>
              </a:rPr>
              <a:t>VoiceAuto</a:t>
            </a:r>
          </a:p>
          <a:p>
            <a:pPr>
              <a:lnSpc>
                <a:spcPct val="108000"/>
              </a:lnSpc>
            </a:pPr>
            <a:r>
              <a:rPr lang="zh-CN" sz="5800" b="1">
                <a:solidFill>
                  <a:srgbClr val="000000"/>
                </a:solidFill>
              </a:rPr>
              <a:t>把语音测试从手工串联变成可复用流程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00050" y="4762500"/>
            <a:ext cx="6477000" cy="8572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400">
                <a:solidFill>
                  <a:srgbClr val="374151"/>
                </a:solidFill>
              </a:rPr>
              <a:t>围绕“测试用例 -&gt; 音频执行 -&gt; 日志回收 -&gt; 结果报告”闭环，统一承载语音助手回归、链路诊断和版本提测汇报。</a:t>
            </a:r>
          </a:p>
        </p:txBody>
      </p:sp>
      <p:sp>
        <p:nvSpPr>
          <p:cNvPr id="6" name="value-band"/>
          <p:cNvSpPr/>
          <p:nvPr/>
        </p:nvSpPr>
        <p:spPr>
          <a:xfrm>
            <a:off x="7810500" y="1638300"/>
            <a:ext cx="3333750" cy="2857500"/>
          </a:xfrm>
          <a:prstGeom prst="rect">
            <a:avLst/>
          </a:prstGeom>
          <a:solidFill>
            <a:srgbClr val="EAF6FE"/>
          </a:solidFill>
          <a:ln w="9525">
            <a:solidFill>
              <a:srgbClr val="EAF6FE"/>
            </a:solidFill>
          </a:ln>
        </p:spPr>
      </p:sp>
      <p:sp>
        <p:nvSpPr>
          <p:cNvPr id="7" name="value-1"/>
          <p:cNvSpPr txBox="1"/>
          <p:nvPr/>
        </p:nvSpPr>
        <p:spPr>
          <a:xfrm>
            <a:off x="8143875" y="1952625"/>
            <a:ext cx="26670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800" b="1">
                <a:solidFill>
                  <a:srgbClr val="000000"/>
                </a:solidFill>
              </a:rPr>
              <a:t>01  用例资产化</a:t>
            </a:r>
          </a:p>
        </p:txBody>
      </p:sp>
      <p:sp>
        <p:nvSpPr>
          <p:cNvPr id="8" name="value-2"/>
          <p:cNvSpPr txBox="1"/>
          <p:nvPr/>
        </p:nvSpPr>
        <p:spPr>
          <a:xfrm>
            <a:off x="8143875" y="2714625"/>
            <a:ext cx="26670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800" b="1">
                <a:solidFill>
                  <a:srgbClr val="000000"/>
                </a:solidFill>
              </a:rPr>
              <a:t>02  执行自动化</a:t>
            </a:r>
          </a:p>
        </p:txBody>
      </p:sp>
      <p:sp>
        <p:nvSpPr>
          <p:cNvPr id="9" name="value-3"/>
          <p:cNvSpPr txBox="1"/>
          <p:nvPr/>
        </p:nvSpPr>
        <p:spPr>
          <a:xfrm>
            <a:off x="8143875" y="3476625"/>
            <a:ext cx="26670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800" b="1">
                <a:solidFill>
                  <a:srgbClr val="000000"/>
                </a:solidFill>
              </a:rPr>
              <a:t>03  报告结构化</a:t>
            </a:r>
          </a:p>
        </p:txBody>
      </p:sp>
      <p:sp>
        <p:nvSpPr>
          <p:cNvPr id="10" name="page-1"/>
          <p:cNvSpPr txBox="1"/>
          <p:nvPr/>
        </p:nvSpPr>
        <p:spPr>
          <a:xfrm>
            <a:off x="11144250" y="6305550"/>
            <a:ext cx="666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1400">
                <a:solidFill>
                  <a:srgbClr val="4B5563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400050" y="400050"/>
            <a:ext cx="105727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4000" b="1">
                <a:solidFill>
                  <a:srgbClr val="000000"/>
                </a:solidFill>
              </a:rPr>
              <a:t>它覆盖语音交互测试的关键工作面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00050" y="1047750"/>
            <a:ext cx="88582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200">
                <a:solidFill>
                  <a:srgbClr val="374151"/>
                </a:solidFill>
              </a:rPr>
              <a:t>从测试准备到结果汇报，减少跨工具搬运，让问题定位有日志、有录音、有结构化结论。</a:t>
            </a:r>
          </a:p>
        </p:txBody>
      </p:sp>
      <p:sp>
        <p:nvSpPr>
          <p:cNvPr id="4" name="flow-bg"/>
          <p:cNvSpPr/>
          <p:nvPr/>
        </p:nvSpPr>
        <p:spPr>
          <a:xfrm>
            <a:off x="400050" y="1809750"/>
            <a:ext cx="11391900" cy="1190625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</p:spPr>
      </p:sp>
      <p:sp>
        <p:nvSpPr>
          <p:cNvPr id="5" name="step1"/>
          <p:cNvSpPr txBox="1"/>
          <p:nvPr/>
        </p:nvSpPr>
        <p:spPr>
          <a:xfrm>
            <a:off x="666750" y="2095500"/>
            <a:ext cx="1381125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000" b="1">
                <a:solidFill>
                  <a:srgbClr val="000000"/>
                </a:solidFill>
              </a:rPr>
              <a:t>用例导入</a:t>
            </a:r>
          </a:p>
          <a:p>
            <a:pPr>
              <a:lnSpc>
                <a:spcPct val="108000"/>
              </a:lnSpc>
            </a:pPr>
            <a:r>
              <a:rPr lang="zh-CN" sz="2000" b="1">
                <a:solidFill>
                  <a:srgbClr val="000000"/>
                </a:solidFill>
              </a:rPr>
              <a:t>TAPD / 文本 / 文件</a:t>
            </a:r>
          </a:p>
        </p:txBody>
      </p:sp>
      <p:cxnSp>
        <p:nvCxnSpPr>
          <p:cNvPr id="6" name="arrow1"/>
          <p:cNvCxnSpPr/>
          <p:nvPr/>
        </p:nvCxnSpPr>
        <p:spPr>
          <a:xfrm>
            <a:off x="2143125" y="2400300"/>
            <a:ext cx="571500" cy="0"/>
          </a:xfrm>
          <a:prstGeom prst="line">
            <a:avLst/>
          </a:prstGeom>
          <a:ln w="19050">
            <a:solidFill>
              <a:srgbClr val="3D8DFF"/>
            </a:solidFill>
            <a:tailEnd type="triangle"/>
          </a:ln>
        </p:spPr>
      </p:cxnSp>
      <p:sp>
        <p:nvSpPr>
          <p:cNvPr id="7" name="step2"/>
          <p:cNvSpPr txBox="1"/>
          <p:nvPr/>
        </p:nvSpPr>
        <p:spPr>
          <a:xfrm>
            <a:off x="2857500" y="2095500"/>
            <a:ext cx="1381125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000" b="1">
                <a:solidFill>
                  <a:srgbClr val="000000"/>
                </a:solidFill>
              </a:rPr>
              <a:t>音频生成</a:t>
            </a:r>
          </a:p>
          <a:p>
            <a:pPr>
              <a:lnSpc>
                <a:spcPct val="108000"/>
              </a:lnSpc>
            </a:pPr>
            <a:r>
              <a:rPr lang="zh-CN" sz="2000" b="1">
                <a:solidFill>
                  <a:srgbClr val="000000"/>
                </a:solidFill>
              </a:rPr>
              <a:t>豆包 TTS / Web Speech</a:t>
            </a:r>
          </a:p>
        </p:txBody>
      </p:sp>
      <p:cxnSp>
        <p:nvCxnSpPr>
          <p:cNvPr id="8" name="arrow2"/>
          <p:cNvCxnSpPr/>
          <p:nvPr/>
        </p:nvCxnSpPr>
        <p:spPr>
          <a:xfrm>
            <a:off x="4333875" y="2400300"/>
            <a:ext cx="571500" cy="0"/>
          </a:xfrm>
          <a:prstGeom prst="line">
            <a:avLst/>
          </a:prstGeom>
          <a:ln w="19050">
            <a:solidFill>
              <a:srgbClr val="3D8DFF"/>
            </a:solidFill>
            <a:tailEnd type="triangle"/>
          </a:ln>
        </p:spPr>
      </p:cxnSp>
      <p:sp>
        <p:nvSpPr>
          <p:cNvPr id="9" name="step3"/>
          <p:cNvSpPr txBox="1"/>
          <p:nvPr/>
        </p:nvSpPr>
        <p:spPr>
          <a:xfrm>
            <a:off x="5048250" y="2095500"/>
            <a:ext cx="1381125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000" b="1">
                <a:solidFill>
                  <a:srgbClr val="000000"/>
                </a:solidFill>
              </a:rPr>
              <a:t>自动执行</a:t>
            </a:r>
          </a:p>
          <a:p>
            <a:pPr>
              <a:lnSpc>
                <a:spcPct val="108000"/>
              </a:lnSpc>
            </a:pPr>
            <a:r>
              <a:rPr lang="zh-CN" sz="2000" b="1">
                <a:solidFill>
                  <a:srgbClr val="000000"/>
                </a:solidFill>
              </a:rPr>
              <a:t>唤醒 / ASR / 播放</a:t>
            </a:r>
          </a:p>
        </p:txBody>
      </p:sp>
      <p:cxnSp>
        <p:nvCxnSpPr>
          <p:cNvPr id="10" name="arrow3"/>
          <p:cNvCxnSpPr/>
          <p:nvPr/>
        </p:nvCxnSpPr>
        <p:spPr>
          <a:xfrm>
            <a:off x="6524625" y="2400300"/>
            <a:ext cx="571500" cy="0"/>
          </a:xfrm>
          <a:prstGeom prst="line">
            <a:avLst/>
          </a:prstGeom>
          <a:ln w="19050">
            <a:solidFill>
              <a:srgbClr val="3D8DFF"/>
            </a:solidFill>
            <a:tailEnd type="triangle"/>
          </a:ln>
        </p:spPr>
      </p:cxnSp>
      <p:sp>
        <p:nvSpPr>
          <p:cNvPr id="11" name="step4"/>
          <p:cNvSpPr txBox="1"/>
          <p:nvPr/>
        </p:nvSpPr>
        <p:spPr>
          <a:xfrm>
            <a:off x="7239000" y="2095500"/>
            <a:ext cx="1381125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000" b="1">
                <a:solidFill>
                  <a:srgbClr val="000000"/>
                </a:solidFill>
              </a:rPr>
              <a:t>日志回收</a:t>
            </a:r>
          </a:p>
          <a:p>
            <a:pPr>
              <a:lnSpc>
                <a:spcPct val="108000"/>
              </a:lnSpc>
            </a:pPr>
            <a:r>
              <a:rPr lang="zh-CN" sz="2000" b="1">
                <a:solidFill>
                  <a:srgbClr val="000000"/>
                </a:solidFill>
              </a:rPr>
              <a:t>Langfuse / ADB</a:t>
            </a:r>
          </a:p>
        </p:txBody>
      </p:sp>
      <p:cxnSp>
        <p:nvCxnSpPr>
          <p:cNvPr id="12" name="arrow4"/>
          <p:cNvCxnSpPr/>
          <p:nvPr/>
        </p:nvCxnSpPr>
        <p:spPr>
          <a:xfrm>
            <a:off x="8715375" y="2400300"/>
            <a:ext cx="571500" cy="0"/>
          </a:xfrm>
          <a:prstGeom prst="line">
            <a:avLst/>
          </a:prstGeom>
          <a:ln w="19050">
            <a:solidFill>
              <a:srgbClr val="3D8DFF"/>
            </a:solidFill>
            <a:tailEnd type="triangle"/>
          </a:ln>
        </p:spPr>
      </p:cxnSp>
      <p:sp>
        <p:nvSpPr>
          <p:cNvPr id="13" name="step5"/>
          <p:cNvSpPr txBox="1"/>
          <p:nvPr/>
        </p:nvSpPr>
        <p:spPr>
          <a:xfrm>
            <a:off x="9429750" y="2095500"/>
            <a:ext cx="18097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000" b="1">
                <a:solidFill>
                  <a:srgbClr val="000000"/>
                </a:solidFill>
              </a:rPr>
              <a:t>报告闭环</a:t>
            </a:r>
          </a:p>
          <a:p>
            <a:pPr>
              <a:lnSpc>
                <a:spcPct val="108000"/>
              </a:lnSpc>
            </a:pPr>
            <a:r>
              <a:rPr lang="zh-CN" sz="2000" b="1">
                <a:solidFill>
                  <a:srgbClr val="000000"/>
                </a:solidFill>
              </a:rPr>
              <a:t>看板 / Excel / Bug</a:t>
            </a:r>
          </a:p>
        </p:txBody>
      </p:sp>
      <p:sp>
        <p:nvSpPr>
          <p:cNvPr id="14" name="left-title"/>
          <p:cNvSpPr txBox="1"/>
          <p:nvPr/>
        </p:nvSpPr>
        <p:spPr>
          <a:xfrm>
            <a:off x="400050" y="3619500"/>
            <a:ext cx="37147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800" b="1">
                <a:solidFill>
                  <a:srgbClr val="000000"/>
                </a:solidFill>
              </a:rPr>
              <a:t>可承担的测试工作</a:t>
            </a:r>
          </a:p>
        </p:txBody>
      </p:sp>
      <p:sp>
        <p:nvSpPr>
          <p:cNvPr id="15" name="left-body"/>
          <p:cNvSpPr txBox="1"/>
          <p:nvPr/>
        </p:nvSpPr>
        <p:spPr>
          <a:xfrm>
            <a:off x="400050" y="4114800"/>
            <a:ext cx="4762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000">
                <a:solidFill>
                  <a:srgbClr val="111827"/>
                </a:solidFill>
              </a:rPr>
              <a:t>• 版本回归：批量播放用例，记录每轮成功率与失败明细</a:t>
            </a:r>
          </a:p>
          <a:p>
            <a:pPr>
              <a:lnSpc>
                <a:spcPct val="108000"/>
              </a:lnSpc>
            </a:pPr>
            <a:r>
              <a:rPr lang="zh-CN" sz="2000">
                <a:solidFill>
                  <a:srgbClr val="111827"/>
                </a:solidFill>
              </a:rPr>
              <a:t>• 链路验证：唤醒、ASR 输入、Speaker 播报收录分阶段判断</a:t>
            </a:r>
          </a:p>
          <a:p>
            <a:pPr>
              <a:lnSpc>
                <a:spcPct val="108000"/>
              </a:lnSpc>
            </a:pPr>
            <a:r>
              <a:rPr lang="zh-CN" sz="2000">
                <a:solidFill>
                  <a:srgbClr val="111827"/>
                </a:solidFill>
              </a:rPr>
              <a:t>• 路由评估：目标 Agent 与实际命中 Agent 对齐分析</a:t>
            </a:r>
          </a:p>
          <a:p>
            <a:pPr>
              <a:lnSpc>
                <a:spcPct val="108000"/>
              </a:lnSpc>
            </a:pPr>
            <a:r>
              <a:rPr lang="zh-CN" sz="2000">
                <a:solidFill>
                  <a:srgbClr val="111827"/>
                </a:solidFill>
              </a:rPr>
              <a:t>• 多环境排查：UAT / TEST / PROD 日志拉取与筛选</a:t>
            </a:r>
          </a:p>
        </p:txBody>
      </p:sp>
      <p:sp>
        <p:nvSpPr>
          <p:cNvPr id="16" name="right-panel"/>
          <p:cNvSpPr/>
          <p:nvPr/>
        </p:nvSpPr>
        <p:spPr>
          <a:xfrm>
            <a:off x="6477000" y="3619500"/>
            <a:ext cx="4476750" cy="1428750"/>
          </a:xfrm>
          <a:prstGeom prst="rect">
            <a:avLst/>
          </a:prstGeom>
          <a:solidFill>
            <a:srgbClr val="EAF6FE"/>
          </a:solidFill>
          <a:ln w="9525">
            <a:solidFill>
              <a:srgbClr val="EAF6FE"/>
            </a:solidFill>
          </a:ln>
        </p:spPr>
      </p:sp>
      <p:sp>
        <p:nvSpPr>
          <p:cNvPr id="17" name="right-title"/>
          <p:cNvSpPr txBox="1"/>
          <p:nvPr/>
        </p:nvSpPr>
        <p:spPr>
          <a:xfrm>
            <a:off x="6743700" y="3905250"/>
            <a:ext cx="37147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800" b="1">
                <a:solidFill>
                  <a:srgbClr val="000000"/>
                </a:solidFill>
              </a:rPr>
              <a:t>对团队的直接价值</a:t>
            </a:r>
          </a:p>
        </p:txBody>
      </p:sp>
      <p:sp>
        <p:nvSpPr>
          <p:cNvPr id="18" name="right-body"/>
          <p:cNvSpPr txBox="1"/>
          <p:nvPr/>
        </p:nvSpPr>
        <p:spPr>
          <a:xfrm>
            <a:off x="6743700" y="4400550"/>
            <a:ext cx="37338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200">
                <a:solidFill>
                  <a:srgbClr val="111827"/>
                </a:solidFill>
              </a:rPr>
              <a:t>把“听一遍、翻日志、手写结论”的工作沉淀成标准流程，便于复测、追溯和向上同步。</a:t>
            </a:r>
          </a:p>
        </p:txBody>
      </p:sp>
      <p:sp>
        <p:nvSpPr>
          <p:cNvPr id="19" name="page-2"/>
          <p:cNvSpPr txBox="1"/>
          <p:nvPr/>
        </p:nvSpPr>
        <p:spPr>
          <a:xfrm>
            <a:off x="11144250" y="6305550"/>
            <a:ext cx="666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1400">
                <a:solidFill>
                  <a:srgbClr val="4B5563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400050" y="400050"/>
            <a:ext cx="105727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4000" b="1">
                <a:solidFill>
                  <a:srgbClr val="000000"/>
                </a:solidFill>
              </a:rPr>
              <a:t>后续迭代重点：从自动执行走向智能质检闭环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00050" y="1047750"/>
            <a:ext cx="90487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200">
                <a:solidFill>
                  <a:srgbClr val="374151"/>
                </a:solidFill>
              </a:rPr>
              <a:t>围绕“稳定执行、智能分析、质量治理”三条线，让工具支撑更高频、更大规模的语音版本交付。</a:t>
            </a:r>
          </a:p>
        </p:txBody>
      </p:sp>
      <p:cxnSp>
        <p:nvCxnSpPr>
          <p:cNvPr id="4" name="road-line"/>
          <p:cNvCxnSpPr/>
          <p:nvPr/>
        </p:nvCxnSpPr>
        <p:spPr>
          <a:xfrm>
            <a:off x="1143000" y="3048000"/>
            <a:ext cx="9715500" cy="0"/>
          </a:xfrm>
          <a:prstGeom prst="line">
            <a:avLst/>
          </a:prstGeom>
          <a:ln w="28575">
            <a:solidFill>
              <a:srgbClr val="B8BCC4"/>
            </a:solidFill>
            <a:tailEnd type="triangle"/>
          </a:ln>
        </p:spPr>
      </p:cxnSp>
      <p:sp>
        <p:nvSpPr>
          <p:cNvPr id="5" name="phase1"/>
          <p:cNvSpPr/>
          <p:nvPr/>
        </p:nvSpPr>
        <p:spPr>
          <a:xfrm>
            <a:off x="762000" y="2000250"/>
            <a:ext cx="2857500" cy="238125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</p:spPr>
      </p:sp>
      <p:sp>
        <p:nvSpPr>
          <p:cNvPr id="6" name="phase1-title"/>
          <p:cNvSpPr txBox="1"/>
          <p:nvPr/>
        </p:nvSpPr>
        <p:spPr>
          <a:xfrm>
            <a:off x="1047750" y="2238375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800" b="1">
                <a:solidFill>
                  <a:srgbClr val="000000"/>
                </a:solidFill>
              </a:rPr>
              <a:t>近期：提效固化</a:t>
            </a:r>
          </a:p>
        </p:txBody>
      </p:sp>
      <p:sp>
        <p:nvSpPr>
          <p:cNvPr id="7" name="phase1-body"/>
          <p:cNvSpPr txBox="1"/>
          <p:nvPr/>
        </p:nvSpPr>
        <p:spPr>
          <a:xfrm>
            <a:off x="1047750" y="2857500"/>
            <a:ext cx="219075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000">
                <a:solidFill>
                  <a:srgbClr val="000000"/>
                </a:solidFill>
              </a:rPr>
              <a:t>• MiniMax 智能评测常态化</a:t>
            </a:r>
          </a:p>
          <a:p>
            <a:pPr>
              <a:lnSpc>
                <a:spcPct val="108000"/>
              </a:lnSpc>
            </a:pPr>
            <a:r>
              <a:rPr lang="zh-CN" sz="2000">
                <a:solidFill>
                  <a:srgbClr val="000000"/>
                </a:solidFill>
              </a:rPr>
              <a:t>• 配置中心与报告看板完善</a:t>
            </a:r>
          </a:p>
          <a:p>
            <a:pPr>
              <a:lnSpc>
                <a:spcPct val="108000"/>
              </a:lnSpc>
            </a:pPr>
            <a:r>
              <a:rPr lang="zh-CN" sz="2000">
                <a:solidFill>
                  <a:srgbClr val="000000"/>
                </a:solidFill>
              </a:rPr>
              <a:t>• 失败日志链接与导出留档</a:t>
            </a:r>
          </a:p>
        </p:txBody>
      </p:sp>
      <p:sp>
        <p:nvSpPr>
          <p:cNvPr id="8" name="phase2"/>
          <p:cNvSpPr/>
          <p:nvPr/>
        </p:nvSpPr>
        <p:spPr>
          <a:xfrm>
            <a:off x="4667250" y="2000250"/>
            <a:ext cx="2857500" cy="2381250"/>
          </a:xfrm>
          <a:prstGeom prst="rect">
            <a:avLst/>
          </a:prstGeom>
          <a:solidFill>
            <a:srgbClr val="EAF6FE"/>
          </a:solidFill>
          <a:ln w="9525">
            <a:solidFill>
              <a:srgbClr val="EAF6FE"/>
            </a:solidFill>
          </a:ln>
        </p:spPr>
      </p:sp>
      <p:sp>
        <p:nvSpPr>
          <p:cNvPr id="9" name="phase2-title"/>
          <p:cNvSpPr txBox="1"/>
          <p:nvPr/>
        </p:nvSpPr>
        <p:spPr>
          <a:xfrm>
            <a:off x="4953000" y="2238375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800" b="1">
                <a:solidFill>
                  <a:srgbClr val="000000"/>
                </a:solidFill>
              </a:rPr>
              <a:t>中期：规模回归</a:t>
            </a:r>
          </a:p>
        </p:txBody>
      </p:sp>
      <p:sp>
        <p:nvSpPr>
          <p:cNvPr id="10" name="phase2-body"/>
          <p:cNvSpPr txBox="1"/>
          <p:nvPr/>
        </p:nvSpPr>
        <p:spPr>
          <a:xfrm>
            <a:off x="4953000" y="2857500"/>
            <a:ext cx="219075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000">
                <a:solidFill>
                  <a:srgbClr val="000000"/>
                </a:solidFill>
              </a:rPr>
              <a:t>• 定时任务与批量回归</a:t>
            </a:r>
          </a:p>
          <a:p>
            <a:pPr>
              <a:lnSpc>
                <a:spcPct val="108000"/>
              </a:lnSpc>
            </a:pPr>
            <a:r>
              <a:rPr lang="zh-CN" sz="2000">
                <a:solidFill>
                  <a:srgbClr val="000000"/>
                </a:solidFill>
              </a:rPr>
              <a:t>• 历史版本趋势对比</a:t>
            </a:r>
          </a:p>
          <a:p>
            <a:pPr>
              <a:lnSpc>
                <a:spcPct val="108000"/>
              </a:lnSpc>
            </a:pPr>
            <a:r>
              <a:rPr lang="zh-CN" sz="2000">
                <a:solidFill>
                  <a:srgbClr val="000000"/>
                </a:solidFill>
              </a:rPr>
              <a:t>• CI / 流水线触发测试</a:t>
            </a:r>
          </a:p>
        </p:txBody>
      </p:sp>
      <p:sp>
        <p:nvSpPr>
          <p:cNvPr id="11" name="phase3"/>
          <p:cNvSpPr/>
          <p:nvPr/>
        </p:nvSpPr>
        <p:spPr>
          <a:xfrm>
            <a:off x="8572500" y="2000250"/>
            <a:ext cx="2857500" cy="238125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</a:ln>
        </p:spPr>
      </p:sp>
      <p:sp>
        <p:nvSpPr>
          <p:cNvPr id="12" name="phase3-title"/>
          <p:cNvSpPr txBox="1"/>
          <p:nvPr/>
        </p:nvSpPr>
        <p:spPr>
          <a:xfrm>
            <a:off x="8858250" y="2238375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800" b="1">
                <a:solidFill>
                  <a:srgbClr val="000000"/>
                </a:solidFill>
              </a:rPr>
              <a:t>远期：质量治理</a:t>
            </a:r>
          </a:p>
        </p:txBody>
      </p:sp>
      <p:sp>
        <p:nvSpPr>
          <p:cNvPr id="13" name="phase3-body"/>
          <p:cNvSpPr txBox="1"/>
          <p:nvPr/>
        </p:nvSpPr>
        <p:spPr>
          <a:xfrm>
            <a:off x="8858250" y="2857500"/>
            <a:ext cx="2190750" cy="1104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000">
                <a:solidFill>
                  <a:srgbClr val="000000"/>
                </a:solidFill>
              </a:rPr>
              <a:t>• 异常规则引擎与根因分类</a:t>
            </a:r>
          </a:p>
          <a:p>
            <a:pPr>
              <a:lnSpc>
                <a:spcPct val="108000"/>
              </a:lnSpc>
            </a:pPr>
            <a:r>
              <a:rPr lang="zh-CN" sz="2000">
                <a:solidFill>
                  <a:srgbClr val="000000"/>
                </a:solidFill>
              </a:rPr>
              <a:t>• 用例库覆盖率与风险门禁</a:t>
            </a:r>
          </a:p>
          <a:p>
            <a:pPr>
              <a:lnSpc>
                <a:spcPct val="108000"/>
              </a:lnSpc>
            </a:pPr>
            <a:r>
              <a:rPr lang="zh-CN" sz="2000">
                <a:solidFill>
                  <a:srgbClr val="000000"/>
                </a:solidFill>
              </a:rPr>
              <a:t>• 跨环境质量知识库</a:t>
            </a:r>
          </a:p>
        </p:txBody>
      </p:sp>
      <p:sp>
        <p:nvSpPr>
          <p:cNvPr id="14" name="close"/>
          <p:cNvSpPr txBox="1"/>
          <p:nvPr/>
        </p:nvSpPr>
        <p:spPr>
          <a:xfrm>
            <a:off x="1381125" y="5191125"/>
            <a:ext cx="92392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2800" b="1">
                <a:solidFill>
                  <a:srgbClr val="3D8DFF"/>
                </a:solidFill>
              </a:rPr>
              <a:t>目标是在提测前自动给出“能不能发、风险在哪、证据是什么”的判断依据。</a:t>
            </a:r>
          </a:p>
        </p:txBody>
      </p:sp>
      <p:sp>
        <p:nvSpPr>
          <p:cNvPr id="15" name="page-3"/>
          <p:cNvSpPr txBox="1"/>
          <p:nvPr/>
        </p:nvSpPr>
        <p:spPr>
          <a:xfrm>
            <a:off x="11144250" y="6305550"/>
            <a:ext cx="666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sz="1400">
                <a:solidFill>
                  <a:srgbClr val="4B5563"/>
                </a:solidFill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iceAuto">
  <a:themeElements>
    <a:clrScheme name="VoiceAuto">
      <a:dk1>
        <a:srgbClr val="000000"/>
      </a:dk1>
      <a:lt1>
        <a:srgbClr val="FFFFFF"/>
      </a:lt1>
      <a:dk2>
        <a:srgbClr val="111827"/>
      </a:dk2>
      <a:lt2>
        <a:srgbClr val="F3F4F6"/>
      </a:lt2>
      <a:accent1>
        <a:srgbClr val="3D8DFF"/>
      </a:accent1>
      <a:accent2>
        <a:srgbClr val="6DCBF4"/>
      </a:accent2>
      <a:accent3>
        <a:srgbClr val="EAF6FE"/>
      </a:accent3>
      <a:accent4>
        <a:srgbClr val="B8BCC4"/>
      </a:accent4>
      <a:accent5>
        <a:srgbClr val="374151"/>
      </a:accent5>
      <a:accent6>
        <a:srgbClr val="111827"/>
      </a:accent6>
      <a:hlink>
        <a:srgbClr val="3D8DFF"/>
      </a:hlink>
      <a:folHlink>
        <a:srgbClr val="3D8DFF"/>
      </a:folHlink>
    </a:clrScheme>
    <a:fontScheme name="VoiceAuto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VoiceAuto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VoiceAuto语音自动化工具向上汇报</dc:title>
  <dc:creator>Codex</dc:creator>
  <cp:lastModifiedBy>Codex</cp:lastModifiedBy>
  <dcterms:created xsi:type="dcterms:W3CDTF">2026-08-08T00:00:00Z</dcterms:created>
  <dcterms:modified xsi:type="dcterms:W3CDTF">2026-08-08T00:00:00Z</dcterms:modified>
</cp:coreProperties>
</file>